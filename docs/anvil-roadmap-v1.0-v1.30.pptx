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21792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FACC15"/>
          </a:solidFill>
          <a:ln w="16510">
            <a:solidFill>
              <a:srgbClr val="1413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583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spc="200" kern="0" dirty="0">
                <a:solidFill>
                  <a:srgbClr val="141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ANVIL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7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开发路标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8580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→  v1.30.8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94436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7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从常驻角色与任务板，到长程运行时与可治理的知识作用域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4015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8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设计演进  ·  行业对比  ·  取舍与效果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480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AC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685800" y="49834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关键阶段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108960" y="4480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AC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3108960" y="49834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532120" y="4480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AC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5532120" y="49834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知识作用域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955280" y="4480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AC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567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7955280" y="49834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测试通过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5800" y="5989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单机 · 单用户 · 本地多 Agent 编排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966960" y="5989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2026-10-28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六次演进：每一步都在补上一阶段的系统性缺口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3154680"/>
            <a:ext cx="10515600" cy="0"/>
          </a:xfrm>
          <a:prstGeom prst="line">
            <a:avLst/>
          </a:prstGeom>
          <a:noFill/>
          <a:ln w="25400">
            <a:solidFill>
              <a:srgbClr val="141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2999232"/>
            <a:ext cx="310896" cy="310896"/>
          </a:xfrm>
          <a:prstGeom prst="ellipse">
            <a:avLst/>
          </a:prstGeom>
          <a:solidFill>
            <a:srgbClr val="FFFAF1"/>
          </a:solidFill>
          <a:ln w="19050">
            <a:solidFill>
              <a:srgbClr val="1413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0200" y="301752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208483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执行基座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45643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任务板 + 常驻角色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64992" y="2999232"/>
            <a:ext cx="310896" cy="310896"/>
          </a:xfrm>
          <a:prstGeom prst="ellipse">
            <a:avLst/>
          </a:prstGeom>
          <a:solidFill>
            <a:srgbClr val="FFFAF1"/>
          </a:solidFill>
          <a:ln w="19050">
            <a:solidFill>
              <a:srgbClr val="1413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301752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87752" y="208483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v1.10–1.12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87752" y="2331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可操作 / 可视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87752" y="345643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工作台 + 工作流图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29784" y="2999232"/>
            <a:ext cx="310896" cy="310896"/>
          </a:xfrm>
          <a:prstGeom prst="ellipse">
            <a:avLst/>
          </a:prstGeom>
          <a:solidFill>
            <a:srgbClr val="FFFAF1"/>
          </a:solidFill>
          <a:ln w="19050">
            <a:solidFill>
              <a:srgbClr val="1413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9784" y="301752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52544" y="208483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v1.20–1.22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52544" y="2331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可组合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52544" y="345643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模板 + Meeple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94576" y="2999232"/>
            <a:ext cx="310896" cy="310896"/>
          </a:xfrm>
          <a:prstGeom prst="ellipse">
            <a:avLst/>
          </a:prstGeom>
          <a:solidFill>
            <a:srgbClr val="FFFAF1"/>
          </a:solidFill>
          <a:ln w="19050">
            <a:solidFill>
              <a:srgbClr val="1413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94576" y="301752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17336" y="208483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v1.23–1.26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17336" y="2331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可治理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117336" y="345643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账本 + 证据 + lease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659368" y="2999232"/>
            <a:ext cx="310896" cy="310896"/>
          </a:xfrm>
          <a:prstGeom prst="ellipse">
            <a:avLst/>
          </a:prstGeom>
          <a:solidFill>
            <a:srgbClr val="FFFAF1"/>
          </a:solidFill>
          <a:ln w="19050">
            <a:solidFill>
              <a:srgbClr val="1413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59368" y="301752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82128" y="208483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v1.27–1.28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882128" y="2331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可复盘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882128" y="345643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+ 指标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424160" y="2999232"/>
            <a:ext cx="310896" cy="310896"/>
          </a:xfrm>
          <a:prstGeom prst="ellipse">
            <a:avLst/>
          </a:prstGeom>
          <a:solidFill>
            <a:srgbClr val="FACC15"/>
          </a:solidFill>
          <a:ln w="19050">
            <a:solidFill>
              <a:srgbClr val="1413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24160" y="301752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646920" y="208483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v1.30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646920" y="2331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可复用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646920" y="345643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四层知识作用域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14400" y="4709160"/>
            <a:ext cx="9966960" cy="310896"/>
          </a:xfrm>
          <a:prstGeom prst="rightArrow">
            <a:avLst/>
          </a:prstGeom>
          <a:solidFill>
            <a:srgbClr val="FFF4D6"/>
          </a:solidFill>
          <a:ln w="12700">
            <a:solidFill>
              <a:srgbClr val="D8CB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97280" y="47365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能力主线：可靠执行  →  可操作  →  可组合  →  可治理  →  可复盘  →  可复用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56692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不是功能堆叠：每一层都建立在上一层的可观测、可终止、可恢复之上。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65288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Anvil roadmap · v1.0 → v1.30.8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15568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· FOUNDATION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78440" y="36576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FACC15"/>
          </a:solidFill>
          <a:ln w="13970">
            <a:solidFill>
              <a:srgbClr val="141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78440" y="3749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任务即协作面：角色、任务、工作区、HITL 四件套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225296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不是多开聊天窗口，而是让 CLI Agent 成为有身份、有工作区、可审计的组织成员。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178308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运行时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" y="205740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Codex / Gemini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07792" y="1920240"/>
            <a:ext cx="292608" cy="182880"/>
          </a:xfrm>
          <a:prstGeom prst="rightArrow">
            <a:avLst/>
          </a:prstGeom>
          <a:solidFill>
            <a:srgbClr val="FACC15"/>
          </a:solidFill>
          <a:ln w="8890">
            <a:solidFill>
              <a:srgbClr val="1413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73552" y="1691640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178308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83280" y="205740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+ MEMORY + home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32704" y="1920240"/>
            <a:ext cx="292608" cy="182880"/>
          </a:xfrm>
          <a:prstGeom prst="rightArrow">
            <a:avLst/>
          </a:prstGeom>
          <a:solidFill>
            <a:srgbClr val="FACC15"/>
          </a:solidFill>
          <a:ln w="8890">
            <a:solidFill>
              <a:srgbClr val="1413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98464" y="1691640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08192" y="178308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 Task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08192" y="205740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唯一执行单元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357616" y="1920240"/>
            <a:ext cx="292608" cy="182880"/>
          </a:xfrm>
          <a:prstGeom prst="rightArrow">
            <a:avLst/>
          </a:prstGeom>
          <a:solidFill>
            <a:srgbClr val="FACC15"/>
          </a:solidFill>
          <a:ln w="8890">
            <a:solidFill>
              <a:srgbClr val="1413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23376" y="1691640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FFF4D6"/>
          </a:solidFill>
          <a:ln w="12700">
            <a:solidFill>
              <a:srgbClr val="E7D39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833104" y="1783080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任务时间线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33104" y="2057400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+ events + audit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2697480"/>
            <a:ext cx="3291840" cy="713232"/>
          </a:xfrm>
          <a:prstGeom prst="roundRect">
            <a:avLst>
              <a:gd name="adj" fmla="val 10256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" y="2788920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 Git repo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8368" y="306324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worktree · 分支命名空间 · 评审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023360" y="2697480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33088" y="278892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Inbox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133088" y="3063240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认领 · 交接 · 唤醒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06640" y="2697480"/>
            <a:ext cx="4251960" cy="713232"/>
          </a:xfrm>
          <a:prstGeom prst="roundRect">
            <a:avLst>
              <a:gd name="adj" fmla="val 10256"/>
            </a:avLst>
          </a:prstGeom>
          <a:solidFill>
            <a:srgbClr val="FDECEC"/>
          </a:solidFill>
          <a:ln w="12700">
            <a:solidFill>
              <a:srgbClr val="E8B4B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516368" y="2788920"/>
            <a:ext cx="4032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516368" y="3063240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评审 / 审批 / 删除 / 重置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3657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设计取舍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3913632"/>
            <a:ext cx="11109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Anvil 把多 Agent 协作压缩到任务层：没有 channel/thread/DM，避免“频道消息 vs 任务时间线”双状态源。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572000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13232" y="466344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同行对比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920240" y="4654296"/>
            <a:ext cx="3075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/ Poco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920240" y="4846320"/>
            <a:ext cx="307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channel/thread 是主场；Anvil 用任务时间线替代。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5160264" y="4654296"/>
            <a:ext cx="3075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160264" y="4846320"/>
            <a:ext cx="307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任务内共享会话；Anvil 多了常驻角色与 HITL。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8400288" y="4654296"/>
            <a:ext cx="3075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MetaGPT / ChatDev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400288" y="4846320"/>
            <a:ext cx="307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一次性 SOP；Anvil 是可恢复的运行期系统。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548640" y="5806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  </a:t>
            </a:r>
            <a:pPr indent="0" marL="0">
              <a:buNone/>
            </a:pPr>
            <a:r>
              <a:rPr lang="en-US" sz="105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 Agent 长期协作，而不是一次性调用。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172200" y="5806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  </a:t>
            </a:r>
            <a:pPr indent="0" marL="0">
              <a:buNone/>
            </a:pPr>
            <a:r>
              <a:rPr lang="en-US" sz="105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单机可审计、低状态复杂度；代价是缺少 ambient 协作。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48640" y="65288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Anvil roadmap · v1.0 → v1.30.8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115568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V1.10 → V1.11 · OPERABILITY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78440" y="36576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FACC15"/>
          </a:solidFill>
          <a:ln w="13970">
            <a:solidFill>
              <a:srgbClr val="141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78440" y="3749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从“能跑”到“能日常操作”：工作台 + 知识仓库绑定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225296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把运行时、角色、任务和知识仓库收进一个可操作界面。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103120" cy="658368"/>
          </a:xfrm>
          <a:prstGeom prst="roundRect">
            <a:avLst>
              <a:gd name="adj" fmla="val 11111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182880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任务标签 / 文本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" y="210312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· tags · repo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24912" y="1965960"/>
            <a:ext cx="292608" cy="182880"/>
          </a:xfrm>
          <a:prstGeom prst="rightArrow">
            <a:avLst/>
          </a:prstGeom>
          <a:solidFill>
            <a:srgbClr val="FACC15"/>
          </a:solidFill>
          <a:ln w="8890">
            <a:solidFill>
              <a:srgbClr val="1413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90672" y="1737360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82880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知识仓库匹配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00400" y="210312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bind / human lock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49824" y="1965960"/>
            <a:ext cx="292608" cy="182880"/>
          </a:xfrm>
          <a:prstGeom prst="rightArrow">
            <a:avLst/>
          </a:prstGeom>
          <a:solidFill>
            <a:srgbClr val="FACC15"/>
          </a:solidFill>
          <a:ln w="8890">
            <a:solidFill>
              <a:srgbClr val="1413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15584" y="1737360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25312" y="182880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多仓库检索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25312" y="210312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+ shared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174736" y="1965960"/>
            <a:ext cx="292608" cy="182880"/>
          </a:xfrm>
          <a:prstGeom prst="rightArrow">
            <a:avLst/>
          </a:prstGeom>
          <a:solidFill>
            <a:srgbClr val="FACC15"/>
          </a:solidFill>
          <a:ln w="8890">
            <a:solidFill>
              <a:srgbClr val="1413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0496" y="1737360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FFF4D6"/>
          </a:solidFill>
          <a:ln w="12700">
            <a:solidFill>
              <a:srgbClr val="E7D39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50224" y="1828800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 上下文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50224" y="2103120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按任务注入相关记忆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2880360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" y="297180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全高工作台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8368" y="3246120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响应式 · 可拖拽 · 可折叠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06240" y="2880360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315968" y="297180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/ MCP 导入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315968" y="3246120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每角色独立能力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863840" y="2880360"/>
            <a:ext cx="3794760" cy="658368"/>
          </a:xfrm>
          <a:prstGeom prst="roundRect">
            <a:avLst>
              <a:gd name="adj" fmla="val 11111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973568" y="2971800"/>
            <a:ext cx="3575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/ closed 状态机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973568" y="3246120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成功终态 vs 人工终止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4160520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13232" y="425196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同行对比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920240" y="4242816"/>
            <a:ext cx="46954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/ OpenCrew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920240" y="4434840"/>
            <a:ext cx="46954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投资 channel/DM/ambient；Anvil 投资任务/角色操作台。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6780276" y="4242816"/>
            <a:ext cx="46954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OpenCrew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780276" y="4434840"/>
            <a:ext cx="46954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频道=角色工位；Anvil 用常驻角色 + 每任务上下文槽。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548640" y="5806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  </a:t>
            </a:r>
            <a:pPr indent="0" marL="0">
              <a:buNone/>
            </a:pPr>
            <a:r>
              <a:rPr lang="en-US" sz="105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让角色能自助工作，知识能按 repo 进入上下文。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172200" y="5806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  </a:t>
            </a:r>
            <a:pPr indent="0" marL="0">
              <a:buNone/>
            </a:pPr>
            <a:r>
              <a:rPr lang="en-US" sz="105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操作效率提升；知识仍停留在 repo 级检索。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65288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Anvil roadmap · v1.0 → v1.30.8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15568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V1.12 · OBSERVABILITY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78440" y="36576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FACC15"/>
          </a:solidFill>
          <a:ln w="13970">
            <a:solidFill>
              <a:srgbClr val="141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78440" y="3749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工作流从后台状态变成“同一张图”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225296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执行者、审批者、复盘者看到同一张动态 DAG。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187452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" y="214884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目标与验收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33472" y="2011680"/>
            <a:ext cx="292608" cy="182880"/>
          </a:xfrm>
          <a:prstGeom prst="rightArrow">
            <a:avLst/>
          </a:prstGeom>
          <a:solidFill>
            <a:srgbClr val="FACC15"/>
          </a:solidFill>
          <a:ln w="8890">
            <a:solidFill>
              <a:srgbClr val="1413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9232" y="1783080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08960" y="187452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DAG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08960" y="214884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依赖 · 并行 · 决策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84064" y="2011680"/>
            <a:ext cx="292608" cy="182880"/>
          </a:xfrm>
          <a:prstGeom prst="rightArrow">
            <a:avLst/>
          </a:prstGeom>
          <a:solidFill>
            <a:srgbClr val="FACC15"/>
          </a:solidFill>
          <a:ln w="8890">
            <a:solidFill>
              <a:srgbClr val="1413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49824" y="1783080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59552" y="187452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状态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559552" y="214884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/ done / failed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534656" y="2011680"/>
            <a:ext cx="292608" cy="182880"/>
          </a:xfrm>
          <a:prstGeom prst="rightArrow">
            <a:avLst/>
          </a:prstGeom>
          <a:solidFill>
            <a:srgbClr val="FACC15"/>
          </a:solidFill>
          <a:ln w="8890">
            <a:solidFill>
              <a:srgbClr val="1413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00416" y="1783080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10144" y="187452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角色会话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10144" y="214884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实时点灯与队列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985248" y="2011680"/>
            <a:ext cx="292608" cy="182880"/>
          </a:xfrm>
          <a:prstGeom prst="rightArrow">
            <a:avLst/>
          </a:prstGeom>
          <a:solidFill>
            <a:srgbClr val="FACC15"/>
          </a:solidFill>
          <a:ln w="8890">
            <a:solidFill>
              <a:srgbClr val="1413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51008" y="178308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FF4D6"/>
          </a:solidFill>
          <a:ln w="12700">
            <a:solidFill>
              <a:srgbClr val="E7D39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460736" y="1874520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460736" y="2148840"/>
            <a:ext cx="1106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评审/介入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2880360"/>
            <a:ext cx="11128248" cy="822960"/>
          </a:xfrm>
          <a:prstGeom prst="roundRect">
            <a:avLst>
              <a:gd name="adj" fmla="val 6667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127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图上的每个节点：计划 → 运行 → 证据 → 评审 → 决定；失败节点可定位、可重试、可终止。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023360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3232" y="41148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同行对比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920240" y="4105656"/>
            <a:ext cx="3075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920240" y="4297680"/>
            <a:ext cx="307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核心视图是对话与 speaker 选择。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5160264" y="4105656"/>
            <a:ext cx="3075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MetaGPT / ChatDev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160264" y="4297680"/>
            <a:ext cx="307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多为静态阶段，缺少运行中 DAG。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8400288" y="4105656"/>
            <a:ext cx="3075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Anvil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400288" y="4297680"/>
            <a:ext cx="307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+ 状态 + 角色会话 + human 同一页。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548640" y="5806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  </a:t>
            </a:r>
            <a:pPr indent="0" marL="0">
              <a:buNone/>
            </a:pPr>
            <a:r>
              <a:rPr lang="en-US" sz="105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让所有人对“现在在哪、卡在哪”有共同视图。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172200" y="5806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  </a:t>
            </a:r>
            <a:pPr indent="0" marL="0">
              <a:buNone/>
            </a:pPr>
            <a:r>
              <a:rPr lang="en-US" sz="105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可追责的评审与复盘；减少状态猜测。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65288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Anvil roadmap · v1.0 → v1.30.8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15568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V1.20 → V1.22 · COMPOSITION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012680" y="36576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E6F6F9"/>
          </a:solidFill>
          <a:ln w="13970">
            <a:solidFill>
              <a:srgbClr val="141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12680" y="3749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v1.20–22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把工作流变成可复用资产：模板 + 角色槽 + 不可变执行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225296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模板不是写死角色，而是“可发布的骨架 + 可绑定的槽位”。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178308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Studio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" y="2057400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导入 · 编辑 · 版本 · 发布 · 回滚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73552" y="1956816"/>
            <a:ext cx="292608" cy="182880"/>
          </a:xfrm>
          <a:prstGeom prst="rightArrow">
            <a:avLst/>
          </a:prstGeom>
          <a:solidFill>
            <a:srgbClr val="FACC15"/>
          </a:solidFill>
          <a:ln w="8890">
            <a:solidFill>
              <a:srgbClr val="1413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9312" y="1691640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178308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Meeple 角色槽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749040" y="2057400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中文标签 + 通用角色名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64224" y="1956816"/>
            <a:ext cx="292608" cy="182880"/>
          </a:xfrm>
          <a:prstGeom prst="rightArrow">
            <a:avLst/>
          </a:prstGeom>
          <a:solidFill>
            <a:srgbClr val="FACC15"/>
          </a:solidFill>
          <a:ln w="8890">
            <a:solidFill>
              <a:srgbClr val="1413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9984" y="1691640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39712" y="178308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绑定真实角色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39712" y="2057400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可预绑定 · 套用时优先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454896" y="1956816"/>
            <a:ext cx="292608" cy="182880"/>
          </a:xfrm>
          <a:prstGeom prst="rightArrow">
            <a:avLst/>
          </a:prstGeom>
          <a:solidFill>
            <a:srgbClr val="FACC15"/>
          </a:solidFill>
          <a:ln w="8890">
            <a:solidFill>
              <a:srgbClr val="1413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20656" y="169164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 w="12700">
            <a:solidFill>
              <a:srgbClr val="E7D39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930384" y="178308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 / 回滚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930384" y="205740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版本可追溯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2788920"/>
            <a:ext cx="3474720" cy="749808"/>
          </a:xfrm>
          <a:prstGeom prst="roundRect">
            <a:avLst>
              <a:gd name="adj" fmla="val 9756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" y="288036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seed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8368" y="3154680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模板作为 Cindy 规划骨架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06240" y="2788920"/>
            <a:ext cx="3474720" cy="749808"/>
          </a:xfrm>
          <a:prstGeom prst="roundRect">
            <a:avLst>
              <a:gd name="adj" fmla="val 9756"/>
            </a:avLst>
          </a:prstGeom>
          <a:solidFill>
            <a:srgbClr val="FDECEC"/>
          </a:solidFill>
          <a:ln w="12700">
            <a:solidFill>
              <a:srgbClr val="E8B4B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315968" y="288036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不可中途替换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315968" y="3154680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运行中必须显式重启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863840" y="278892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973568" y="2880360"/>
            <a:ext cx="3575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执行历史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973568" y="3154680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execution_no · previous_workflow_id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4114800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13232" y="420624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同行对比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920240" y="4197096"/>
            <a:ext cx="46954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MetaGPT / ChatDev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920240" y="4389120"/>
            <a:ext cx="46954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与角色写死；Anvil 把骨架与绑定拆开。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6780276" y="4197096"/>
            <a:ext cx="46954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/ Poco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780276" y="4389120"/>
            <a:ext cx="46954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协作靠 channel/thread；Anvil 的执行骨架可发布、回滚。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548640" y="5806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  </a:t>
            </a:r>
            <a:pPr indent="0" marL="0">
              <a:buNone/>
            </a:pPr>
            <a:r>
              <a:rPr lang="en-US" sz="105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复用成功工作流，同时保持角色绑定灵活。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172200" y="5806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  </a:t>
            </a:r>
            <a:pPr indent="0" marL="0">
              <a:buNone/>
            </a:pPr>
            <a:r>
              <a:rPr lang="en-US" sz="105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多任务复用、审计与回滚；代价是模板治理成本。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65288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Anvil roadmap · v1.0 → v1.30.8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15568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V1.23 · LEDGER &amp; GATES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78440" y="36576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FACC15"/>
          </a:solidFill>
          <a:ln w="13970">
            <a:solidFill>
              <a:srgbClr val="141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78440" y="3749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执行历史变成账本：事件、门禁、stale fencing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225296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并发下，状态不是“最新一条”，而是可回放的事实链。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423160" cy="713232"/>
          </a:xfrm>
          <a:prstGeom prst="roundRect">
            <a:avLst>
              <a:gd name="adj" fmla="val 10256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1828800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" y="210312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/ decide / plan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90672" y="1993392"/>
            <a:ext cx="292608" cy="182880"/>
          </a:xfrm>
          <a:prstGeom prst="rightArrow">
            <a:avLst/>
          </a:prstGeom>
          <a:solidFill>
            <a:srgbClr val="FACC15"/>
          </a:solidFill>
          <a:ln w="8890">
            <a:solidFill>
              <a:srgbClr val="1413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1737360"/>
            <a:ext cx="2423160" cy="713232"/>
          </a:xfrm>
          <a:prstGeom prst="roundRect">
            <a:avLst>
              <a:gd name="adj" fmla="val 10256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66160" y="1828800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Ledger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66160" y="210312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+ cursor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98464" y="1993392"/>
            <a:ext cx="292608" cy="182880"/>
          </a:xfrm>
          <a:prstGeom prst="rightArrow">
            <a:avLst/>
          </a:prstGeom>
          <a:solidFill>
            <a:srgbClr val="FACC15"/>
          </a:solidFill>
          <a:ln w="8890">
            <a:solidFill>
              <a:srgbClr val="1413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64224" y="1737360"/>
            <a:ext cx="2423160" cy="713232"/>
          </a:xfrm>
          <a:prstGeom prst="roundRect">
            <a:avLst>
              <a:gd name="adj" fmla="val 10256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73952" y="1828800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Gate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73952" y="210312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权限 · 预算 · 角色状态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906256" y="1993392"/>
            <a:ext cx="292608" cy="182880"/>
          </a:xfrm>
          <a:prstGeom prst="rightArrow">
            <a:avLst/>
          </a:prstGeom>
          <a:solidFill>
            <a:srgbClr val="FACC15"/>
          </a:solidFill>
          <a:ln w="8890">
            <a:solidFill>
              <a:srgbClr val="1413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72016" y="1737360"/>
            <a:ext cx="2377440" cy="713232"/>
          </a:xfrm>
          <a:prstGeom prst="roundRect">
            <a:avLst>
              <a:gd name="adj" fmla="val 10256"/>
            </a:avLst>
          </a:prstGeom>
          <a:solidFill>
            <a:srgbClr val="FDECEC"/>
          </a:solidFill>
          <a:ln w="12700">
            <a:solidFill>
              <a:srgbClr val="E8B4B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81744" y="182880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Fence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381744" y="210312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id 不匹配即拒绝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283464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" y="292608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8368" y="3200400"/>
            <a:ext cx="32552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完整事件流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06240" y="283464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315968" y="292608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315968" y="3200400"/>
            <a:ext cx="32552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执行档案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863840" y="2834640"/>
            <a:ext cx="3794760" cy="685800"/>
          </a:xfrm>
          <a:prstGeom prst="roundRect">
            <a:avLst>
              <a:gd name="adj" fmla="val 10667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973568" y="2926080"/>
            <a:ext cx="3575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973568" y="3200400"/>
            <a:ext cx="3575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可追责的事实链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4069080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13232" y="416052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同行对比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920240" y="4151376"/>
            <a:ext cx="46954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AgentTeams / Mantle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920240" y="4343400"/>
            <a:ext cx="46954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有团队状态与活动日志；Anvil 把事件作为一等账本。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6780276" y="4151376"/>
            <a:ext cx="46954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780276" y="4343400"/>
            <a:ext cx="46954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历史持久；Anvil 绑定 workflow/step/run 上下文。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548640" y="5806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  </a:t>
            </a:r>
            <a:pPr indent="0" marL="0">
              <a:buNone/>
            </a:pPr>
            <a:r>
              <a:rPr lang="en-US" sz="105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让迟到写入、越权派发、历史复盘都有统一事实源。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172200" y="5806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  </a:t>
            </a:r>
            <a:pPr indent="0" marL="0">
              <a:buNone/>
            </a:pPr>
            <a:r>
              <a:rPr lang="en-US" sz="105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可回放、可审计、可自动恢复；减少状态猜测。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65288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Anvil roadmap · v1.0 → v1.30.8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15568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V1.24 · EVIDENCE-BACKED HITL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78440" y="36576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FACC15"/>
          </a:solidFill>
          <a:ln w="13970">
            <a:solidFill>
              <a:srgbClr val="141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78440" y="3749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v1.24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人类审批不再只是“点通过”：证据、权限、不可变决定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225296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从 UI 交互升级为 workflow 语义。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182880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" y="210312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产物 · 测试 · diff · 指标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27832" y="1993392"/>
            <a:ext cx="292608" cy="182880"/>
          </a:xfrm>
          <a:prstGeom prst="rightArrow">
            <a:avLst/>
          </a:prstGeom>
          <a:solidFill>
            <a:srgbClr val="FACC15"/>
          </a:solidFill>
          <a:ln w="8890">
            <a:solidFill>
              <a:srgbClr val="1413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93592" y="17373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03320" y="182880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Packet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703320" y="210312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 + 风险 + 决策项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72784" y="1993392"/>
            <a:ext cx="292608" cy="182880"/>
          </a:xfrm>
          <a:prstGeom prst="rightArrow">
            <a:avLst/>
          </a:prstGeom>
          <a:solidFill>
            <a:srgbClr val="FACC15"/>
          </a:solidFill>
          <a:ln w="8890">
            <a:solidFill>
              <a:srgbClr val="1413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38544" y="17373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48272" y="182880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748272" y="210312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不可变 · 重做新生记录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317736" y="1993392"/>
            <a:ext cx="292608" cy="182880"/>
          </a:xfrm>
          <a:prstGeom prst="rightArrow">
            <a:avLst/>
          </a:prstGeom>
          <a:solidFill>
            <a:srgbClr val="FACC15"/>
          </a:solidFill>
          <a:ln w="8890">
            <a:solidFill>
              <a:srgbClr val="1413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83496" y="173736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 w="12700">
            <a:solidFill>
              <a:srgbClr val="E7D39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793224" y="1828800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793224" y="2103120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human-wait 起点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2834640"/>
            <a:ext cx="3520440" cy="685800"/>
          </a:xfrm>
          <a:prstGeom prst="roundRect">
            <a:avLst>
              <a:gd name="adj" fmla="val 10667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5800" y="292608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74520" y="29260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可自主决策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43400" y="2834640"/>
            <a:ext cx="3520440" cy="685800"/>
          </a:xfrm>
          <a:prstGeom prst="roundRect">
            <a:avLst>
              <a:gd name="adj" fmla="val 10667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80560" y="292608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0" y="29260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必须自然人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138160" y="2834640"/>
            <a:ext cx="3520440" cy="685800"/>
          </a:xfrm>
          <a:prstGeom prst="roundRect">
            <a:avLst>
              <a:gd name="adj" fmla="val 10667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75320" y="292608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464040" y="29260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共同确认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4069080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13232" y="416052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同行对比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920240" y="4151376"/>
            <a:ext cx="3075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920240" y="4343400"/>
            <a:ext cx="307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多在 callback / 工具级。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5160264" y="4151376"/>
            <a:ext cx="3075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Tag / Slack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160264" y="4343400"/>
            <a:ext cx="307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审批在对话里，上下文自然但难审计。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8400288" y="4151376"/>
            <a:ext cx="3075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Anvil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400288" y="4343400"/>
            <a:ext cx="307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把证据、决策权、不可变记录放进步骤契约。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548640" y="5806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  </a:t>
            </a:r>
            <a:pPr indent="0" marL="0">
              <a:buNone/>
            </a:pPr>
            <a:r>
              <a:rPr lang="en-US" sz="105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让审批可追责、可复盘，而不是一句“看起来可以”。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172200" y="5806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  </a:t>
            </a:r>
            <a:pPr indent="0" marL="0">
              <a:buNone/>
            </a:pPr>
            <a:r>
              <a:rPr lang="en-US" sz="105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更强流程约束；证据准备成为显式成本。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48640" y="65288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Anvil roadmap · v1.0 → v1.30.8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115568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V1.25 · RISK &amp; METRICS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78440" y="36576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FACC15"/>
          </a:solidFill>
          <a:ln w="13970">
            <a:solidFill>
              <a:srgbClr val="141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78440" y="3749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把“这次要多严”变成一等参数：Workflow Weight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225296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/ standard / strict 三档，连接规划、证据、评审与成本。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2286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小范围 · 可逆 · 少角色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2880360" y="1874520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 w="10160">
            <a:solidFill>
              <a:srgbClr val="1413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188366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87952" y="173736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4D6"/>
          </a:solidFill>
          <a:ln w="12700">
            <a:solidFill>
              <a:srgbClr val="E7D39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52544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52544" y="2286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默认流程强度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6519672" y="1874520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14131A"/>
          </a:solidFill>
          <a:ln w="10160">
            <a:solidFill>
              <a:srgbClr val="1413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9672" y="188366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827264" y="173736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DECEC"/>
          </a:solidFill>
          <a:ln w="12700">
            <a:solidFill>
              <a:srgbClr val="E8B4B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91856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991856" y="2286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高风险 · 证据必填 · 关键节点人工确认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10158984" y="1874520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 w="10160">
            <a:solidFill>
              <a:srgbClr val="1413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58984" y="188366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3291840"/>
            <a:ext cx="3474720" cy="731520"/>
          </a:xfrm>
          <a:prstGeom prst="roundRect">
            <a:avLst>
              <a:gd name="adj" fmla="val 10000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" y="338328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vs Actual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8368" y="3657600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计划图 vs 实际执行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06240" y="3291840"/>
            <a:ext cx="3474720" cy="731520"/>
          </a:xfrm>
          <a:prstGeom prst="roundRect">
            <a:avLst>
              <a:gd name="adj" fmla="val 10000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315968" y="338328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315968" y="3657600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周期 · token · 返工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863840" y="3291840"/>
            <a:ext cx="3794760" cy="731520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 w="12700">
            <a:solidFill>
              <a:srgbClr val="E8B4B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973568" y="3383280"/>
            <a:ext cx="3575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Override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973568" y="365760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显式终止 → 重启新执行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4343400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13232" y="443484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同行对比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920240" y="4425696"/>
            <a:ext cx="46954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 / AgentPrune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920240" y="4617720"/>
            <a:ext cx="46954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研究失败模式与冗余成本；Anvil 把风险强度做成参数。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6780276" y="4425696"/>
            <a:ext cx="46954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MetaGPT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780276" y="4617720"/>
            <a:ext cx="46954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强度固定；Anvil 按任务风险选择。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548640" y="58521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  </a:t>
            </a:r>
            <a:pPr indent="0" marL="0">
              <a:buNone/>
            </a:pPr>
            <a:r>
              <a:rPr lang="en-US" sz="105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让流程强度可配置、可解释、可审计。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172200" y="58521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  </a:t>
            </a:r>
            <a:pPr indent="0" marL="0">
              <a:buNone/>
            </a:pPr>
            <a:r>
              <a:rPr lang="en-US" sz="105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风险与成本显式化；避免所有任务同一强度。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65288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Anvil roadmap · v1.0 → v1.30.8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15568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V1.26 · CONCURRENCY SAFETY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78440" y="36576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FACC15"/>
          </a:solidFill>
          <a:ln w="13970">
            <a:solidFill>
              <a:srgbClr val="141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78440" y="3749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并发不是“快”，而是“谁有权写哪一块”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225296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 lease + fencing token + path reservation。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182880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" y="2103120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任务归属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53512" y="1993392"/>
            <a:ext cx="292608" cy="182880"/>
          </a:xfrm>
          <a:prstGeom prst="rightArrow">
            <a:avLst/>
          </a:prstGeom>
          <a:solidFill>
            <a:srgbClr val="FACC15"/>
          </a:solidFill>
          <a:ln w="8890">
            <a:solidFill>
              <a:srgbClr val="1413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9272" y="17373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29000" y="182880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Lease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29000" y="210312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步骤租约 + fencing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98464" y="1993392"/>
            <a:ext cx="292608" cy="182880"/>
          </a:xfrm>
          <a:prstGeom prst="rightArrow">
            <a:avLst/>
          </a:prstGeom>
          <a:solidFill>
            <a:srgbClr val="FACC15"/>
          </a:solidFill>
          <a:ln w="8890">
            <a:solidFill>
              <a:srgbClr val="1413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64224" y="17373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73952" y="182880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Lease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73952" y="210312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文件路径预留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043416" y="1993392"/>
            <a:ext cx="292608" cy="182880"/>
          </a:xfrm>
          <a:prstGeom prst="rightArrow">
            <a:avLst/>
          </a:prstGeom>
          <a:solidFill>
            <a:srgbClr val="FACC15"/>
          </a:solidFill>
          <a:ln w="8890">
            <a:solidFill>
              <a:srgbClr val="1413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9176" y="173736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 w="12700">
            <a:solidFill>
              <a:srgbClr val="E8B4B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518904" y="1828800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518904" y="210312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旧 token 写入拒绝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2880360"/>
            <a:ext cx="11109960" cy="777240"/>
          </a:xfrm>
          <a:prstGeom prst="roundRect">
            <a:avLst>
              <a:gd name="adj" fmla="val 7059"/>
            </a:avLst>
          </a:prstGeom>
          <a:solidFill>
            <a:srgbClr val="FFF4D6"/>
          </a:solidFill>
          <a:ln w="12700">
            <a:solidFill>
              <a:srgbClr val="E7D39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1089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原子派发  ·  过期租约回收  ·  越界路径阻止合并  ·  UI 可视化 lease 状态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3232" y="420624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同行对比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920240" y="4197096"/>
            <a:ext cx="3075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AgentRQ / Mantle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920240" y="4389120"/>
            <a:ext cx="307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任务/thread 级归属与唤醒。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5160264" y="4197096"/>
            <a:ext cx="3075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60264" y="4389120"/>
            <a:ext cx="307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channel/thread 提供协作边界。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8400288" y="4197096"/>
            <a:ext cx="3075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Anvil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400288" y="4389120"/>
            <a:ext cx="307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lease/fencing 下沉到 step 与文件路径。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548640" y="5806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  </a:t>
            </a:r>
            <a:pPr indent="0" marL="0">
              <a:buNone/>
            </a:pPr>
            <a:r>
              <a:rPr lang="en-US" sz="105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让多 Agent 并发写同一任务时，系统能证明没有冲突。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72200" y="5806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  </a:t>
            </a:r>
            <a:pPr indent="0" marL="0">
              <a:buNone/>
            </a:pPr>
            <a:r>
              <a:rPr lang="en-US" sz="105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从“角色自觉”升级为机制约束。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5288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Anvil roadmap · v1.0 → v1.30.8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15568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V1.27 → V1.28.X · REPLAY &amp; METRICS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9966960" y="36576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E6F6F9"/>
          </a:solidFill>
          <a:ln w="13970">
            <a:solidFill>
              <a:srgbClr val="141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66960" y="3749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v1.27–28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让一次运行可以“倒带”：Replay、Dossier、可解释指标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87452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8368" y="214884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67712" y="2011680"/>
            <a:ext cx="256032" cy="164592"/>
          </a:xfrm>
          <a:prstGeom prst="rightArrow">
            <a:avLst/>
          </a:prstGeom>
          <a:solidFill>
            <a:srgbClr val="FACC15"/>
          </a:solidFill>
          <a:ln w="8890">
            <a:solidFill>
              <a:srgbClr val="1413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7830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70048" y="187452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70048" y="214884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79392" y="2011680"/>
            <a:ext cx="256032" cy="164592"/>
          </a:xfrm>
          <a:prstGeom prst="rightArrow">
            <a:avLst/>
          </a:prstGeom>
          <a:solidFill>
            <a:srgbClr val="FACC15"/>
          </a:solidFill>
          <a:ln w="8890">
            <a:solidFill>
              <a:srgbClr val="1413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7830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81728" y="187452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81728" y="214884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91072" y="2011680"/>
            <a:ext cx="256032" cy="164592"/>
          </a:xfrm>
          <a:prstGeom prst="rightArrow">
            <a:avLst/>
          </a:prstGeom>
          <a:solidFill>
            <a:srgbClr val="FACC15"/>
          </a:solidFill>
          <a:ln w="8890">
            <a:solidFill>
              <a:srgbClr val="1413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17830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93408" y="187452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93408" y="214884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302752" y="2011680"/>
            <a:ext cx="256032" cy="164592"/>
          </a:xfrm>
          <a:prstGeom prst="rightArrow">
            <a:avLst/>
          </a:prstGeom>
          <a:solidFill>
            <a:srgbClr val="FACC15"/>
          </a:solidFill>
          <a:ln w="8890">
            <a:solidFill>
              <a:srgbClr val="1413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95360" y="17830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FF4D6"/>
          </a:solidFill>
          <a:ln w="12700">
            <a:solidFill>
              <a:srgbClr val="E7D39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705088" y="187452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705088" y="214884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378440" y="17830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488168" y="1874520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488168" y="2148840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倒带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288036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8368" y="297180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Log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8368" y="3246120"/>
            <a:ext cx="32552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完整事件流导出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06240" y="288036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315968" y="297180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315968" y="3246120"/>
            <a:ext cx="32552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执行档案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863840" y="2880360"/>
            <a:ext cx="3794760" cy="685800"/>
          </a:xfrm>
          <a:prstGeom prst="roundRect">
            <a:avLst>
              <a:gd name="adj" fmla="val 10667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973568" y="2971800"/>
            <a:ext cx="3575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973568" y="3246120"/>
            <a:ext cx="3575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· 周期 · human wait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384048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指标必须回答：口径是什么、范围是什么、是否包含 cache / human wait。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4526280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13232" y="461772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同行对比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920240" y="4608576"/>
            <a:ext cx="46954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AgentTeams / Claude Tag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920240" y="4800600"/>
            <a:ext cx="46954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活动日志/对话检索；Anvil 把 replay、dossier、指标做成审计面。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6780276" y="4608576"/>
            <a:ext cx="46954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780276" y="4800600"/>
            <a:ext cx="46954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日志偏调试；Anvil 面向评审、归因与组织学习。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548640" y="58521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  </a:t>
            </a:r>
            <a:pPr indent="0" marL="0">
              <a:buNone/>
            </a:pPr>
            <a:r>
              <a:rPr lang="en-US" sz="105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让失败可复盘、成功可复制、成本可解释。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172200" y="58521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  </a:t>
            </a:r>
            <a:pPr indent="0" marL="0">
              <a:buNone/>
            </a:pPr>
            <a:r>
              <a:rPr lang="en-US" sz="105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从“看日志”升级为“按事实链重建运行”。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48640" y="65288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Anvil roadmap · v1.0 → v1.30.8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115568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V1.30 · KNOWLEDGE SCOPE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78440" y="36576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FACC15"/>
          </a:solidFill>
          <a:ln w="13970">
            <a:solidFill>
              <a:srgbClr val="141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78440" y="3749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v1.30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频道不是聊天室：它是任务归属 + 知识作用域 + 资产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225296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从“每个任务各自积累”升级为四层知识治理。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719072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18379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331720" y="186537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人工批准 lessons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3232" y="22219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全员可读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719072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FF4D6"/>
          </a:solidFill>
          <a:ln w="12700">
            <a:solidFill>
              <a:srgbClr val="E7D39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91072" y="18379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09560" y="186537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约定 / SOP / 决策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91072" y="22219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绑定任务=约束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907792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3232" y="3026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331720" y="305409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 / 交接 / 实现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3232" y="34107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参与角色共享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907792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DECEC"/>
          </a:solidFill>
          <a:ln w="12700">
            <a:solidFill>
              <a:srgbClr val="E8B4B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91072" y="3026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909560" y="305409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/ MEMORY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91072" y="34107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成功实践+提炼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06908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authority：normative / reference  ·  知识卡：ADR / SOP / 规则卡 / Postmortem  ·  实践门控：action + 成功 + 提炼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3232" y="466344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同行对比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920240" y="4654296"/>
            <a:ext cx="3075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MemGPT / Mem0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920240" y="4846320"/>
            <a:ext cx="307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个人/会话记忆，缺少组织作用域。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5160264" y="4654296"/>
            <a:ext cx="3075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G-Memory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60264" y="4846320"/>
            <a:ext cx="307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自动多级记忆；治理与人工审批弱。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8400288" y="4654296"/>
            <a:ext cx="3075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AWM / ExpeL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400288" y="4846320"/>
            <a:ext cx="307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自动经验归纳；Anvil 选择 human 批准 + 实践门控。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548640" y="5806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  </a:t>
            </a:r>
            <a:pPr indent="0" marL="0">
              <a:buNone/>
            </a:pPr>
            <a:r>
              <a:rPr lang="en-US" sz="105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让跨任务知识可复用，同时不污染角色私有记忆。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72200" y="5806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  </a:t>
            </a:r>
            <a:pPr indent="0" marL="0">
              <a:buNone/>
            </a:pPr>
            <a:r>
              <a:rPr lang="en-US" sz="105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可审计、可追责；自动化程度低于研究型记忆系统。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5288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Anvil roadmap · v1.0 → v1.30.8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15568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V1.30.X · KNOWLEDGE LIBRARY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9875520" y="36576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E6F6F9"/>
          </a:solidFill>
          <a:ln w="13970">
            <a:solidFill>
              <a:srgbClr val="141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0" y="3749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v1.30.x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知识库：四层知识放进一个可操作面板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225296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单条命中留在条目行内；总体评估只放总体数据。（界面示意，数值为示例）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556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频道知识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23160" y="1691640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17556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任务知识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1691640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97680" y="17556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角色知识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17556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共享经验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1691640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46720" y="17556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演化提案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921240" y="1691640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FFF4D6"/>
          </a:solidFill>
          <a:ln w="12700">
            <a:solidFill>
              <a:srgbClr val="E7D39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921240" y="17556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效果评估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2487168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3232" y="26151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单条知识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" y="28529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频道 / 任务 / 角色 / 共享经验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" y="3218688"/>
            <a:ext cx="5029200" cy="256032"/>
          </a:xfrm>
          <a:prstGeom prst="rect">
            <a:avLst/>
          </a:prstGeom>
          <a:solidFill>
            <a:srgbClr val="FFF4D6"/>
          </a:solidFill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命中 7 次 · 最近命中 2026-10-25 17:30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" y="36118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页面浏览/搜索不计命中；只有进入 CIC / one-shot 才计数。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217920" y="2487168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82512" y="26151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总体评估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82512" y="2926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42%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6382512" y="334670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命中覆盖率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8119872" y="2926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300" dirty="0"/>
          </a:p>
        </p:txBody>
      </p:sp>
      <p:sp>
        <p:nvSpPr>
          <p:cNvPr id="29" name="Text 27"/>
          <p:cNvSpPr/>
          <p:nvPr/>
        </p:nvSpPr>
        <p:spPr>
          <a:xfrm>
            <a:off x="8119872" y="334670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零命中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9857232" y="2926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9857232" y="334670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治理待处理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6382512" y="3840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命中 ≠ 收益：hit_count 只代表暴露/使用机会。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4754880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13232" y="484632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同行对比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920240" y="4837176"/>
            <a:ext cx="46954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/ Confluence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920240" y="5029200"/>
            <a:ext cx="46954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文档优先，缺少运行期命中与任务结果关联。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6780276" y="4837176"/>
            <a:ext cx="46954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/ Poco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780276" y="5029200"/>
            <a:ext cx="46954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频道历史承担上下文；Anvil 把知识抽出来治理。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548640" y="5806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  </a:t>
            </a:r>
            <a:pPr indent="0" marL="0">
              <a:buNone/>
            </a:pPr>
            <a:r>
              <a:rPr lang="en-US" sz="105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 human 能从总览到单条快速定位知识价值。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172200" y="5806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  </a:t>
            </a:r>
            <a:pPr indent="0" marL="0">
              <a:buNone/>
            </a:pPr>
            <a:r>
              <a:rPr lang="en-US" sz="105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可操作、可解释；下一步补命中事件 + 任务结果归因。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48640" y="65288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Anvil roadmap · v1.0 → v1.30.8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115568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· CONTEXT ISOLATION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长程角色：进程不是上下文，任务槽才是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一个角色一个进程、一个 turn；上下文按 (角色, 任务) 分槽，切换只发生在 turn 边界。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794760" cy="2423160"/>
          </a:xfrm>
          <a:prstGeom prst="roundRect">
            <a:avLst>
              <a:gd name="adj" fmla="val 3019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810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角色进程（每角色 1 个）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同一时刻只跑一个 turn，不抢占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busy 绑定 current_task_id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队列 FIFO：消息携带 task / run / spawn spec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角色忙 A 时，B 的 @ 与步骤排队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队列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342900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47472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 · run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874520" y="342900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874520" y="347472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 · @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017520" y="342900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17520" y="347472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__global__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09160" y="1691640"/>
            <a:ext cx="3200400" cy="2423160"/>
          </a:xfrm>
          <a:prstGeom prst="roundRect">
            <a:avLst>
              <a:gd name="adj" fmla="val 3019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73752" y="1810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一次唤醒怎么走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73752" y="2194560"/>
            <a:ext cx="28529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消息到达 → 取 task_key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同 task：复用进程，直接写 stdin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换 task：保存当前槽 → 优雅退出进程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读目标槽：session + cwd 匹配 → resume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否则：new session + CIC 重建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4873752" y="37307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切换只在 result 之后，不打断当前 turn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8092440" y="1691640"/>
            <a:ext cx="3566160" cy="2423160"/>
          </a:xfrm>
          <a:prstGeom prst="roundRect">
            <a:avLst>
              <a:gd name="adj" fmla="val 3019"/>
            </a:avLst>
          </a:prstGeom>
          <a:solidFill>
            <a:srgbClr val="FFF4D6"/>
          </a:solidFill>
          <a:ln w="12700">
            <a:solidFill>
              <a:srgbClr val="E7D39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57032" y="18105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上下文槽 role_task_sessions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57032" y="2194560"/>
            <a:ext cx="3246120" cy="475488"/>
          </a:xfrm>
          <a:prstGeom prst="roundRect">
            <a:avLst>
              <a:gd name="adj" fmla="val 15385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66760" y="22494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281160" y="2249424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 · cwd · ctx_tokens · activity cursor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8257032" y="2761488"/>
            <a:ext cx="3246120" cy="475488"/>
          </a:xfrm>
          <a:prstGeom prst="roundRect">
            <a:avLst>
              <a:gd name="adj" fmla="val 15385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66760" y="28163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281160" y="2816352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 · cwd · ctx_tokens · activity cursor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257032" y="3328416"/>
            <a:ext cx="3246120" cy="475488"/>
          </a:xfrm>
          <a:prstGeom prst="roundRect">
            <a:avLst>
              <a:gd name="adj" fmla="val 15385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366760" y="33832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__global__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281160" y="338328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/ 角色直聊，不共享任务上下文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48640" y="4297680"/>
            <a:ext cx="11109960" cy="475488"/>
          </a:xfrm>
          <a:prstGeom prst="roundRect">
            <a:avLst>
              <a:gd name="adj" fmla="val 15385"/>
            </a:avLst>
          </a:prstGeom>
          <a:solidFill>
            <a:srgbClr val="FFF4D6"/>
          </a:solidFill>
          <a:ln w="12700">
            <a:solidFill>
              <a:srgbClr val="E7D39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1520" y="438912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→ busy → result → idle   ｜   空闲 15 分钟释放进程，但槽保留   ｜   下次消息：加载对应槽 → resume 或 new + CIC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548640" y="4937760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13232" y="50292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同行对比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920240" y="5020056"/>
            <a:ext cx="3075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920240" y="5212080"/>
            <a:ext cx="307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 agent 长期单会话；Anvil 按 (角色, 任务) 拆成多个上下文槽。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5160264" y="5020056"/>
            <a:ext cx="3075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AgentScope Harness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160264" y="5212080"/>
            <a:ext cx="307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身份与上下文解耦、Continuation 恢复；Anvil 落到运行时槽 + FIFO 队列。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8400288" y="5020056"/>
            <a:ext cx="3075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400288" y="5212080"/>
            <a:ext cx="307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与 cwd 绑定；Anvil 把 session_id + cwd + 水位一起存进槽。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548640" y="5897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  </a:t>
            </a:r>
            <a:pPr indent="0" marL="0">
              <a:buNone/>
            </a:pPr>
            <a:r>
              <a:rPr lang="en-US" sz="105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角色跨任务、跨天连续工作，但任务间上下文不串味。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72200" y="5897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  </a:t>
            </a:r>
            <a:pPr indent="0" marL="0">
              <a:buNone/>
            </a:pPr>
            <a:r>
              <a:rPr lang="en-US" sz="105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切换可预期、可恢复；代价是 turn 边界切换与槽元数据维护。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48640" y="65288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Anvil roadmap · v1.0 → v1.30.8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15568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· CONTEXT CONTINUITY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上下文续命：80% 换会话，90% 硬重置，CIC 重建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不依赖模型写摘要：阈值触发、只清当前任务槽、从权威状态重建。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2697480"/>
          </a:xfrm>
          <a:prstGeom prst="roundRect">
            <a:avLst>
              <a:gd name="adj" fmla="val 2712"/>
            </a:avLst>
          </a:prstGeom>
          <a:solidFill>
            <a:srgbClr val="FFFAF1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810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什么时候换上下文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2212848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25856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17320" y="223113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轮末 ≥ 窗口 80% → 释放进程；下次 new + CIC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731520" y="2706624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75234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17320" y="272491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单轮内 ≥ 90% → 终止会话；写快照；CIC 重投当前 run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731520" y="320040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24612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17320" y="321868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真实溢出 → 按最后成功上下文 ×95% 收紧；重试 ≤3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31520" y="3694176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73989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24MB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17320" y="371246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请求体超限 → 保存知识快照 + 新 CIC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731520" y="404164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只清当前 (role, task) 槽；其它任务槽、MEMORY、notes 不动。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6217920" y="1691640"/>
            <a:ext cx="5440680" cy="2697480"/>
          </a:xfrm>
          <a:prstGeom prst="roundRect">
            <a:avLst>
              <a:gd name="adj" fmla="val 2712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82512" y="18105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CIC：确定性重建（32k 字符预算）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82512" y="217627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MEMORY.md 尾部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8823960" y="2212848"/>
            <a:ext cx="2331720" cy="118872"/>
          </a:xfrm>
          <a:prstGeom prst="roundRect">
            <a:avLst>
              <a:gd name="adj" fmla="val 46154"/>
            </a:avLst>
          </a:prstGeom>
          <a:solidFill>
            <a:srgbClr val="0E7490"/>
          </a:solidFill>
          <a:ln w="5080">
            <a:solidFill>
              <a:srgbClr val="0E74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228832" y="21671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382512" y="244144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工作流进度 / 决策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8823960" y="2478024"/>
            <a:ext cx="2331720" cy="118872"/>
          </a:xfrm>
          <a:prstGeom prst="roundRect">
            <a:avLst>
              <a:gd name="adj" fmla="val 46154"/>
            </a:avLst>
          </a:prstGeom>
          <a:solidFill>
            <a:srgbClr val="0E7490"/>
          </a:solidFill>
          <a:ln w="5080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228832" y="243230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382512" y="270662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最近知识快照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8823960" y="2743200"/>
            <a:ext cx="2331720" cy="118872"/>
          </a:xfrm>
          <a:prstGeom prst="roundRect">
            <a:avLst>
              <a:gd name="adj" fmla="val 46154"/>
            </a:avLst>
          </a:prstGeom>
          <a:solidFill>
            <a:srgbClr val="0E7490"/>
          </a:solidFill>
          <a:ln w="5080">
            <a:solidFill>
              <a:srgbClr val="0E74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228832" y="26974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382512" y="29718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 25 条消息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8823960" y="3008376"/>
            <a:ext cx="2331720" cy="118872"/>
          </a:xfrm>
          <a:prstGeom prst="roundRect">
            <a:avLst>
              <a:gd name="adj" fmla="val 46154"/>
            </a:avLst>
          </a:prstGeom>
          <a:solidFill>
            <a:srgbClr val="0E7490"/>
          </a:solidFill>
          <a:ln w="5080">
            <a:solidFill>
              <a:srgbClr val="0E74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228832" y="29626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382512" y="323697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按任务检索的知识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8823960" y="3273552"/>
            <a:ext cx="2331720" cy="118872"/>
          </a:xfrm>
          <a:prstGeom prst="roundRect">
            <a:avLst>
              <a:gd name="adj" fmla="val 46154"/>
            </a:avLst>
          </a:prstGeom>
          <a:solidFill>
            <a:srgbClr val="0E7490"/>
          </a:solidFill>
          <a:ln w="5080">
            <a:solidFill>
              <a:srgbClr val="0E74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228832" y="32278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382512" y="35021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频道 + 任务知识</a:t>
            </a:r>
            <a:endParaRPr lang="en-US" sz="840" dirty="0"/>
          </a:p>
        </p:txBody>
      </p:sp>
      <p:sp>
        <p:nvSpPr>
          <p:cNvPr id="38" name="Shape 36"/>
          <p:cNvSpPr/>
          <p:nvPr/>
        </p:nvSpPr>
        <p:spPr>
          <a:xfrm>
            <a:off x="8823960" y="3538728"/>
            <a:ext cx="1165860" cy="118872"/>
          </a:xfrm>
          <a:prstGeom prst="roundRect">
            <a:avLst>
              <a:gd name="adj" fmla="val 46154"/>
            </a:avLst>
          </a:prstGeom>
          <a:solidFill>
            <a:srgbClr val="7FB6C4"/>
          </a:solidFill>
          <a:ln w="5080">
            <a:solidFill>
              <a:srgbClr val="0E74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228832" y="34930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2k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382512" y="376732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共享经验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8823960" y="3803904"/>
            <a:ext cx="874395" cy="118872"/>
          </a:xfrm>
          <a:prstGeom prst="roundRect">
            <a:avLst>
              <a:gd name="adj" fmla="val 46154"/>
            </a:avLst>
          </a:prstGeom>
          <a:solidFill>
            <a:srgbClr val="7FB6C4"/>
          </a:solidFill>
          <a:ln w="5080">
            <a:solidFill>
              <a:srgbClr val="0E74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228832" y="375818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1.5k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382512" y="403250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知识库索引</a:t>
            </a:r>
            <a:endParaRPr lang="en-US" sz="840" dirty="0"/>
          </a:p>
        </p:txBody>
      </p:sp>
      <p:sp>
        <p:nvSpPr>
          <p:cNvPr id="44" name="Shape 42"/>
          <p:cNvSpPr/>
          <p:nvPr/>
        </p:nvSpPr>
        <p:spPr>
          <a:xfrm>
            <a:off x="8823960" y="4069080"/>
            <a:ext cx="699516" cy="118872"/>
          </a:xfrm>
          <a:prstGeom prst="roundRect">
            <a:avLst>
              <a:gd name="adj" fmla="val 46154"/>
            </a:avLst>
          </a:prstGeom>
          <a:solidFill>
            <a:srgbClr val="7FB6C4"/>
          </a:solidFill>
          <a:ln w="5080">
            <a:solidFill>
              <a:srgbClr val="0E74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228832" y="40233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1.2k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382512" y="4242816"/>
            <a:ext cx="4937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按优先级打包，预算不足先丢低优先级块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548640" y="4526280"/>
            <a:ext cx="11109960" cy="292608"/>
          </a:xfrm>
          <a:prstGeom prst="roundRect">
            <a:avLst>
              <a:gd name="adj" fmla="val 25000"/>
            </a:avLst>
          </a:prstGeom>
          <a:solidFill>
            <a:srgbClr val="FFF4D6"/>
          </a:solidFill>
          <a:ln w="12700">
            <a:solidFill>
              <a:srgbClr val="E7D39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31520" y="4572000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恢复已有会话：按 last_seen_activity_id 注入「离开期间增量」+ 当前 run prompt；不重放整段历史。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48640" y="4937760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E6F6F9"/>
          </a:solidFill>
          <a:ln w="12700">
            <a:solidFill>
              <a:srgbClr val="B7DCE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13232" y="50292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同行对比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920240" y="5020056"/>
            <a:ext cx="3075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auto-compact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920240" y="5212080"/>
            <a:ext cx="307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轮次边界在同一会话内摘要压缩；Anvil 到阈值直接换会话 + 确定性 CIC。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5160264" y="5020056"/>
            <a:ext cx="3075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CIC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160264" y="5212080"/>
            <a:ext cx="307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冷唤醒用构造初始上下文重建；Anvil 增加任务/工作流/知识快照与槽隔离。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8400288" y="5020056"/>
            <a:ext cx="3075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MemGPT / Mem0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400288" y="5212080"/>
            <a:ext cx="3075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分层记忆与自动摘要；Anvil 以文件/DB 为权威源，避免摘要漂移。</a:t>
            </a:r>
            <a:endParaRPr lang="en-US" sz="820" dirty="0"/>
          </a:p>
        </p:txBody>
      </p:sp>
      <p:sp>
        <p:nvSpPr>
          <p:cNvPr id="57" name="Text 55"/>
          <p:cNvSpPr/>
          <p:nvPr/>
        </p:nvSpPr>
        <p:spPr>
          <a:xfrm>
            <a:off x="548640" y="5897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  </a:t>
            </a:r>
            <a:pPr indent="0" marL="0">
              <a:buNone/>
            </a:pPr>
            <a:r>
              <a:rPr lang="en-US" sz="105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长任务不被上下文窗口截断，也不依赖模型摘要保真。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172200" y="5897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  </a:t>
            </a:r>
            <a:pPr indent="0" marL="0">
              <a:buNone/>
            </a:pPr>
            <a:r>
              <a:rPr lang="en-US" sz="105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崩溃/溢出可重建；代价是 CIC token 预算与知识快照维护。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48640" y="65288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Anvil roadmap · v1.0 → v1.30.8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115568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COMPARISON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整体架构对比：Anvil 选的是“任务级 + 可审计”路线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不是比谁更像聊天软件，而是比谁能把执行与知识治理闭环。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325880" cy="347472"/>
          </a:xfrm>
          <a:prstGeom prst="rect">
            <a:avLst/>
          </a:prstGeom>
          <a:solidFill>
            <a:srgbClr val="FFFAF1"/>
          </a:solidFill>
          <a:ln w="1270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维度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1874520" y="1783080"/>
            <a:ext cx="2423160" cy="347472"/>
          </a:xfrm>
          <a:prstGeom prst="rect">
            <a:avLst/>
          </a:prstGeom>
          <a:solidFill>
            <a:srgbClr val="FACC15"/>
          </a:solidFill>
          <a:ln w="1270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Anvil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4297680" y="1783080"/>
            <a:ext cx="2103120" cy="347472"/>
          </a:xfrm>
          <a:prstGeom prst="rect">
            <a:avLst/>
          </a:prstGeom>
          <a:solidFill>
            <a:srgbClr val="FFFAF1"/>
          </a:solidFill>
          <a:ln w="1270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/ Poco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6400800" y="1783080"/>
            <a:ext cx="1874520" cy="347472"/>
          </a:xfrm>
          <a:prstGeom prst="rect">
            <a:avLst/>
          </a:prstGeom>
          <a:solidFill>
            <a:srgbClr val="FFFAF1"/>
          </a:solidFill>
          <a:ln w="1270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8275320" y="1783080"/>
            <a:ext cx="1920240" cy="347472"/>
          </a:xfrm>
          <a:prstGeom prst="rect">
            <a:avLst/>
          </a:prstGeom>
          <a:solidFill>
            <a:srgbClr val="FFFAF1"/>
          </a:solidFill>
          <a:ln w="1270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MetaGPT / ChatDev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10195560" y="1783080"/>
            <a:ext cx="2377440" cy="347472"/>
          </a:xfrm>
          <a:prstGeom prst="rect">
            <a:avLst/>
          </a:prstGeom>
          <a:solidFill>
            <a:srgbClr val="FFFAF1"/>
          </a:solidFill>
          <a:ln w="1270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AgentTeams / Claude Tag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548640" y="2167128"/>
            <a:ext cx="1325880" cy="603504"/>
          </a:xfrm>
          <a:prstGeom prst="rect">
            <a:avLst/>
          </a:prstGeom>
          <a:solidFill>
            <a:srgbClr val="FBF5EA"/>
          </a:solidFill>
          <a:ln w="889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交互场所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1874520" y="2167128"/>
            <a:ext cx="2423160" cy="603504"/>
          </a:xfrm>
          <a:prstGeom prst="rect">
            <a:avLst/>
          </a:prstGeom>
          <a:solidFill>
            <a:srgbClr val="FFF4D6"/>
          </a:solidFill>
          <a:ln w="889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任务时间线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4297680" y="2167128"/>
            <a:ext cx="2103120" cy="603504"/>
          </a:xfrm>
          <a:prstGeom prst="rect">
            <a:avLst/>
          </a:prstGeom>
          <a:solidFill>
            <a:srgbClr val="FBF5EA"/>
          </a:solidFill>
          <a:ln w="889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/ thread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6400800" y="2167128"/>
            <a:ext cx="1874520" cy="603504"/>
          </a:xfrm>
          <a:prstGeom prst="rect">
            <a:avLst/>
          </a:prstGeom>
          <a:solidFill>
            <a:srgbClr val="FBF5EA"/>
          </a:solidFill>
          <a:ln w="889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任务内群聊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8275320" y="2167128"/>
            <a:ext cx="1920240" cy="603504"/>
          </a:xfrm>
          <a:prstGeom prst="rect">
            <a:avLst/>
          </a:prstGeom>
          <a:solidFill>
            <a:srgbClr val="FBF5EA"/>
          </a:solidFill>
          <a:ln w="889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/ pipeline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10195560" y="2167128"/>
            <a:ext cx="2377440" cy="603504"/>
          </a:xfrm>
          <a:prstGeom prst="rect">
            <a:avLst/>
          </a:prstGeom>
          <a:solidFill>
            <a:srgbClr val="FBF5EA"/>
          </a:solidFill>
          <a:ln w="889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群聊 / 组织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548640" y="2807208"/>
            <a:ext cx="1325880" cy="603504"/>
          </a:xfrm>
          <a:prstGeom prst="rect">
            <a:avLst/>
          </a:prstGeom>
          <a:solidFill>
            <a:srgbClr val="FFFAF1"/>
          </a:solidFill>
          <a:ln w="889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工作单元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1874520" y="2807208"/>
            <a:ext cx="2423160" cy="603504"/>
          </a:xfrm>
          <a:prstGeom prst="rect">
            <a:avLst/>
          </a:prstGeom>
          <a:solidFill>
            <a:srgbClr val="FFF4D6"/>
          </a:solidFill>
          <a:ln w="889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+ step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4297680" y="2807208"/>
            <a:ext cx="2103120" cy="603504"/>
          </a:xfrm>
          <a:prstGeom prst="rect">
            <a:avLst/>
          </a:prstGeom>
          <a:solidFill>
            <a:srgbClr val="FFFAF1"/>
          </a:solidFill>
          <a:ln w="889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+ thread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6400800" y="2807208"/>
            <a:ext cx="1874520" cy="603504"/>
          </a:xfrm>
          <a:prstGeom prst="rect">
            <a:avLst/>
          </a:prstGeom>
          <a:solidFill>
            <a:srgbClr val="FFFAF1"/>
          </a:solidFill>
          <a:ln w="889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8275320" y="2807208"/>
            <a:ext cx="1920240" cy="603504"/>
          </a:xfrm>
          <a:prstGeom prst="rect">
            <a:avLst/>
          </a:prstGeom>
          <a:solidFill>
            <a:srgbClr val="FFFAF1"/>
          </a:solidFill>
          <a:ln w="889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10195560" y="2807208"/>
            <a:ext cx="2377440" cy="603504"/>
          </a:xfrm>
          <a:prstGeom prst="rect">
            <a:avLst/>
          </a:prstGeom>
          <a:solidFill>
            <a:srgbClr val="FFFAF1"/>
          </a:solidFill>
          <a:ln w="889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群内任务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548640" y="3447288"/>
            <a:ext cx="1325880" cy="603504"/>
          </a:xfrm>
          <a:prstGeom prst="rect">
            <a:avLst/>
          </a:prstGeom>
          <a:solidFill>
            <a:srgbClr val="FBF5EA"/>
          </a:solidFill>
          <a:ln w="889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编排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1874520" y="3447288"/>
            <a:ext cx="2423160" cy="603504"/>
          </a:xfrm>
          <a:prstGeom prst="rect">
            <a:avLst/>
          </a:prstGeom>
          <a:solidFill>
            <a:srgbClr val="FFF4D6"/>
          </a:solidFill>
          <a:ln w="889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Cindy + DAG + HITL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4297680" y="3447288"/>
            <a:ext cx="2103120" cy="603504"/>
          </a:xfrm>
          <a:prstGeom prst="rect">
            <a:avLst/>
          </a:prstGeom>
          <a:solidFill>
            <a:srgbClr val="FBF5EA"/>
          </a:solidFill>
          <a:ln w="889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@mention / 涌现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6400800" y="3447288"/>
            <a:ext cx="1874520" cy="603504"/>
          </a:xfrm>
          <a:prstGeom prst="rect">
            <a:avLst/>
          </a:prstGeom>
          <a:solidFill>
            <a:srgbClr val="FBF5EA"/>
          </a:solidFill>
          <a:ln w="889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selection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8275320" y="3447288"/>
            <a:ext cx="1920240" cy="603504"/>
          </a:xfrm>
          <a:prstGeom prst="rect">
            <a:avLst/>
          </a:prstGeom>
          <a:solidFill>
            <a:srgbClr val="FBF5EA"/>
          </a:solidFill>
          <a:ln w="889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固定角色阶段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10195560" y="3447288"/>
            <a:ext cx="2377440" cy="603504"/>
          </a:xfrm>
          <a:prstGeom prst="rect">
            <a:avLst/>
          </a:prstGeom>
          <a:solidFill>
            <a:srgbClr val="FBF5EA"/>
          </a:solidFill>
          <a:ln w="889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/ Worker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548640" y="4087368"/>
            <a:ext cx="1325880" cy="603504"/>
          </a:xfrm>
          <a:prstGeom prst="rect">
            <a:avLst/>
          </a:prstGeom>
          <a:solidFill>
            <a:srgbClr val="FFFAF1"/>
          </a:solidFill>
          <a:ln w="889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</a:t>
            </a:r>
            <a:endParaRPr lang="en-US" sz="870" dirty="0"/>
          </a:p>
        </p:txBody>
      </p:sp>
      <p:sp>
        <p:nvSpPr>
          <p:cNvPr id="30" name="Text 28"/>
          <p:cNvSpPr/>
          <p:nvPr/>
        </p:nvSpPr>
        <p:spPr>
          <a:xfrm>
            <a:off x="1874520" y="4087368"/>
            <a:ext cx="2423160" cy="603504"/>
          </a:xfrm>
          <a:prstGeom prst="rect">
            <a:avLst/>
          </a:prstGeom>
          <a:solidFill>
            <a:srgbClr val="FFF4D6"/>
          </a:solidFill>
          <a:ln w="889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层作用域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4297680" y="4087368"/>
            <a:ext cx="2103120" cy="603504"/>
          </a:xfrm>
          <a:prstGeom prst="rect">
            <a:avLst/>
          </a:prstGeom>
          <a:solidFill>
            <a:srgbClr val="FFFAF1"/>
          </a:solidFill>
          <a:ln w="889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频道历史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6400800" y="4087368"/>
            <a:ext cx="1874520" cy="603504"/>
          </a:xfrm>
          <a:prstGeom prst="rect">
            <a:avLst/>
          </a:prstGeom>
          <a:solidFill>
            <a:srgbClr val="FFFAF1"/>
          </a:solidFill>
          <a:ln w="889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共享会话</a:t>
            </a:r>
            <a:endParaRPr lang="en-US" sz="870" dirty="0"/>
          </a:p>
        </p:txBody>
      </p:sp>
      <p:sp>
        <p:nvSpPr>
          <p:cNvPr id="33" name="Text 31"/>
          <p:cNvSpPr/>
          <p:nvPr/>
        </p:nvSpPr>
        <p:spPr>
          <a:xfrm>
            <a:off x="8275320" y="4087368"/>
            <a:ext cx="1920240" cy="603504"/>
          </a:xfrm>
          <a:prstGeom prst="rect">
            <a:avLst/>
          </a:prstGeom>
          <a:solidFill>
            <a:srgbClr val="FFFAF1"/>
          </a:solidFill>
          <a:ln w="889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共享消息池</a:t>
            </a:r>
            <a:endParaRPr lang="en-US" sz="870" dirty="0"/>
          </a:p>
        </p:txBody>
      </p:sp>
      <p:sp>
        <p:nvSpPr>
          <p:cNvPr id="34" name="Text 32"/>
          <p:cNvSpPr/>
          <p:nvPr/>
        </p:nvSpPr>
        <p:spPr>
          <a:xfrm>
            <a:off x="10195560" y="4087368"/>
            <a:ext cx="2377440" cy="603504"/>
          </a:xfrm>
          <a:prstGeom prst="rect">
            <a:avLst/>
          </a:prstGeom>
          <a:solidFill>
            <a:srgbClr val="FFFAF1"/>
          </a:solidFill>
          <a:ln w="889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房间记忆</a:t>
            </a:r>
            <a:endParaRPr lang="en-US" sz="870" dirty="0"/>
          </a:p>
        </p:txBody>
      </p:sp>
      <p:sp>
        <p:nvSpPr>
          <p:cNvPr id="35" name="Text 33"/>
          <p:cNvSpPr/>
          <p:nvPr/>
        </p:nvSpPr>
        <p:spPr>
          <a:xfrm>
            <a:off x="548640" y="4727448"/>
            <a:ext cx="1325880" cy="603504"/>
          </a:xfrm>
          <a:prstGeom prst="rect">
            <a:avLst/>
          </a:prstGeom>
          <a:solidFill>
            <a:srgbClr val="FBF5EA"/>
          </a:solidFill>
          <a:ln w="889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治理</a:t>
            </a:r>
            <a:endParaRPr lang="en-US" sz="870" dirty="0"/>
          </a:p>
        </p:txBody>
      </p:sp>
      <p:sp>
        <p:nvSpPr>
          <p:cNvPr id="36" name="Text 34"/>
          <p:cNvSpPr/>
          <p:nvPr/>
        </p:nvSpPr>
        <p:spPr>
          <a:xfrm>
            <a:off x="1874520" y="4727448"/>
            <a:ext cx="2423160" cy="603504"/>
          </a:xfrm>
          <a:prstGeom prst="rect">
            <a:avLst/>
          </a:prstGeom>
          <a:solidFill>
            <a:srgbClr val="FFF4D6"/>
          </a:solidFill>
          <a:ln w="889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+ 审计 + 证据 HITL</a:t>
            </a:r>
            <a:endParaRPr lang="en-US" sz="870" dirty="0"/>
          </a:p>
        </p:txBody>
      </p:sp>
      <p:sp>
        <p:nvSpPr>
          <p:cNvPr id="37" name="Text 35"/>
          <p:cNvSpPr/>
          <p:nvPr/>
        </p:nvSpPr>
        <p:spPr>
          <a:xfrm>
            <a:off x="4297680" y="4727448"/>
            <a:ext cx="2103120" cy="603504"/>
          </a:xfrm>
          <a:prstGeom prst="rect">
            <a:avLst/>
          </a:prstGeom>
          <a:solidFill>
            <a:srgbClr val="FBF5EA"/>
          </a:solidFill>
          <a:ln w="889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较弱</a:t>
            </a:r>
            <a:endParaRPr lang="en-US" sz="870" dirty="0"/>
          </a:p>
        </p:txBody>
      </p:sp>
      <p:sp>
        <p:nvSpPr>
          <p:cNvPr id="38" name="Text 36"/>
          <p:cNvSpPr/>
          <p:nvPr/>
        </p:nvSpPr>
        <p:spPr>
          <a:xfrm>
            <a:off x="6400800" y="4727448"/>
            <a:ext cx="1874520" cy="603504"/>
          </a:xfrm>
          <a:prstGeom prst="rect">
            <a:avLst/>
          </a:prstGeom>
          <a:solidFill>
            <a:srgbClr val="FBF5EA"/>
          </a:solidFill>
          <a:ln w="889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较弱</a:t>
            </a:r>
            <a:endParaRPr lang="en-US" sz="870" dirty="0"/>
          </a:p>
        </p:txBody>
      </p:sp>
      <p:sp>
        <p:nvSpPr>
          <p:cNvPr id="39" name="Text 37"/>
          <p:cNvSpPr/>
          <p:nvPr/>
        </p:nvSpPr>
        <p:spPr>
          <a:xfrm>
            <a:off x="8275320" y="4727448"/>
            <a:ext cx="1920240" cy="603504"/>
          </a:xfrm>
          <a:prstGeom prst="rect">
            <a:avLst/>
          </a:prstGeom>
          <a:solidFill>
            <a:srgbClr val="FBF5EA"/>
          </a:solidFill>
          <a:ln w="889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较弱</a:t>
            </a:r>
            <a:endParaRPr lang="en-US" sz="870" dirty="0"/>
          </a:p>
        </p:txBody>
      </p:sp>
      <p:sp>
        <p:nvSpPr>
          <p:cNvPr id="40" name="Text 38"/>
          <p:cNvSpPr/>
          <p:nvPr/>
        </p:nvSpPr>
        <p:spPr>
          <a:xfrm>
            <a:off x="10195560" y="4727448"/>
            <a:ext cx="2377440" cy="603504"/>
          </a:xfrm>
          <a:prstGeom prst="rect">
            <a:avLst/>
          </a:prstGeom>
          <a:solidFill>
            <a:srgbClr val="FBF5EA"/>
          </a:solidFill>
          <a:ln w="8890">
            <a:solidFill>
              <a:srgbClr val="D8CBB8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组织/RBAC 较强</a:t>
            </a:r>
            <a:endParaRPr lang="en-US" sz="870" dirty="0"/>
          </a:p>
        </p:txBody>
      </p:sp>
      <p:sp>
        <p:nvSpPr>
          <p:cNvPr id="41" name="Text 39"/>
          <p:cNvSpPr/>
          <p:nvPr/>
        </p:nvSpPr>
        <p:spPr>
          <a:xfrm>
            <a:off x="548640" y="59436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来源：docs/v1.30-channel-knowledge.md §A.2–A.3；按交互、任务、编排、知识、治理分层对比。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548640" y="65288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Anvil roadmap · v1.0 → v1.30.8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15568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Anvil 的护城河：把“多 Agent”变成“可运营的系统”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1B1A23"/>
          </a:solidFill>
          <a:ln w="15240">
            <a:solidFill>
              <a:srgbClr val="3A34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C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可靠执行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任务即协作面 + 常驻角色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42232" y="2423160"/>
            <a:ext cx="365760" cy="219456"/>
          </a:xfrm>
          <a:prstGeom prst="rightArrow">
            <a:avLst/>
          </a:prstGeom>
          <a:solidFill>
            <a:srgbClr val="FACC15"/>
          </a:solidFill>
          <a:ln w="6350">
            <a:solidFill>
              <a:srgbClr val="FACC1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82880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1B1A23"/>
          </a:solidFill>
          <a:ln w="15240">
            <a:solidFill>
              <a:srgbClr val="3A34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965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C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09160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可审计治理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账本 + lease/fencing + 证据 HITL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982712" y="2423160"/>
            <a:ext cx="365760" cy="219456"/>
          </a:xfrm>
          <a:prstGeom prst="rightArrow">
            <a:avLst/>
          </a:prstGeom>
          <a:solidFill>
            <a:srgbClr val="FACC15"/>
          </a:solidFill>
          <a:ln w="6350">
            <a:solidFill>
              <a:srgbClr val="FACC1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66760" y="182880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ACC15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1965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49640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可复用知识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4964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四层作用域 + 知识卡 + 实践门控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886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420624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7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v1.31  任务完成后自动生成 proposed 知识卡，human 审批 + 淘汰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7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v1.32  embedding / GraphRAG 语义检索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7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前置  命中事件 + 任务结果归因，才能做收益驱动的知识淘汰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" y="5989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AC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任务即协作面 · 工作流即契约 · 知识即治理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5288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Anvil roadmap · v1.0 → v1.30.8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15568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8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Anvil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Anvil 开发路标 v1.0 → v1.30.8</dc:title>
  <dc:subject>Anvil v1.0 → v1.30.8 development roadmap and peer comparison</dc:subject>
  <dc:creator>Anvil</dc:creator>
  <cp:lastModifiedBy>Anvil</cp:lastModifiedBy>
  <cp:revision>1</cp:revision>
  <dcterms:created xsi:type="dcterms:W3CDTF">2026-10-28T00:41:47Z</dcterms:created>
  <dcterms:modified xsi:type="dcterms:W3CDTF">2026-10-28T00:41:47Z</dcterms:modified>
</cp:coreProperties>
</file>